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8" r:id="rId2"/>
    <p:sldId id="259" r:id="rId3"/>
    <p:sldId id="260" r:id="rId4"/>
    <p:sldId id="262" r:id="rId5"/>
    <p:sldId id="261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F417CB-CFD2-4D67-8BC5-DCBDBB3209E6}" v="2" dt="2025-10-25T09:28:21.70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vya Sri Samineni" userId="018eddad15506522" providerId="LiveId" clId="{E71214D6-5565-43E7-A1E3-E85BC241EFDC}"/>
    <pc:docChg chg="custSel modSld">
      <pc:chgData name="Bhavya Sri Samineni" userId="018eddad15506522" providerId="LiveId" clId="{E71214D6-5565-43E7-A1E3-E85BC241EFDC}" dt="2025-10-25T09:28:32.143" v="6" actId="14100"/>
      <pc:docMkLst>
        <pc:docMk/>
      </pc:docMkLst>
      <pc:sldChg chg="addSp delSp modSp mod">
        <pc:chgData name="Bhavya Sri Samineni" userId="018eddad15506522" providerId="LiveId" clId="{E71214D6-5565-43E7-A1E3-E85BC241EFDC}" dt="2025-10-25T09:28:32.143" v="6" actId="14100"/>
        <pc:sldMkLst>
          <pc:docMk/>
          <pc:sldMk cId="872344154" sldId="262"/>
        </pc:sldMkLst>
        <pc:spChg chg="mod">
          <ac:chgData name="Bhavya Sri Samineni" userId="018eddad15506522" providerId="LiveId" clId="{E71214D6-5565-43E7-A1E3-E85BC241EFDC}" dt="2025-10-25T09:28:32.143" v="6" actId="14100"/>
          <ac:spMkLst>
            <pc:docMk/>
            <pc:sldMk cId="872344154" sldId="262"/>
            <ac:spMk id="3" creationId="{5DE75DB4-66A5-D55A-FD85-DF2B5526C827}"/>
          </ac:spMkLst>
        </pc:spChg>
        <pc:picChg chg="add del mod">
          <ac:chgData name="Bhavya Sri Samineni" userId="018eddad15506522" providerId="LiveId" clId="{E71214D6-5565-43E7-A1E3-E85BC241EFDC}" dt="2025-10-25T09:28:17.168" v="3" actId="21"/>
          <ac:picMkLst>
            <pc:docMk/>
            <pc:sldMk cId="872344154" sldId="262"/>
            <ac:picMk id="5" creationId="{5F3CD519-662B-0629-C134-90174A1DABF5}"/>
          </ac:picMkLst>
        </pc:picChg>
        <pc:picChg chg="add mod">
          <ac:chgData name="Bhavya Sri Samineni" userId="018eddad15506522" providerId="LiveId" clId="{E71214D6-5565-43E7-A1E3-E85BC241EFDC}" dt="2025-10-25T09:28:25.243" v="5" actId="1076"/>
          <ac:picMkLst>
            <pc:docMk/>
            <pc:sldMk cId="872344154" sldId="262"/>
            <ac:picMk id="6" creationId="{5F3CD519-662B-0629-C134-90174A1DABF5}"/>
          </ac:picMkLst>
        </pc:picChg>
      </pc:sldChg>
      <pc:sldChg chg="modSp mod">
        <pc:chgData name="Bhavya Sri Samineni" userId="018eddad15506522" providerId="LiveId" clId="{E71214D6-5565-43E7-A1E3-E85BC241EFDC}" dt="2025-10-25T09:07:51.838" v="0" actId="1076"/>
        <pc:sldMkLst>
          <pc:docMk/>
          <pc:sldMk cId="2515543060" sldId="263"/>
        </pc:sldMkLst>
        <pc:spChg chg="mod">
          <ac:chgData name="Bhavya Sri Samineni" userId="018eddad15506522" providerId="LiveId" clId="{E71214D6-5565-43E7-A1E3-E85BC241EFDC}" dt="2025-10-25T09:07:51.838" v="0" actId="1076"/>
          <ac:spMkLst>
            <pc:docMk/>
            <pc:sldMk cId="2515543060" sldId="263"/>
            <ac:spMk id="7" creationId="{0324EB57-00E7-3EE0-6209-65868081DC2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10/25/2025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A711141-C438-7B2A-29B7-031FBCC1B0A8}"/>
              </a:ext>
            </a:extLst>
          </p:cNvPr>
          <p:cNvSpPr txBox="1"/>
          <p:nvPr/>
        </p:nvSpPr>
        <p:spPr>
          <a:xfrm>
            <a:off x="403123" y="530942"/>
            <a:ext cx="10638503" cy="5001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6000" b="1" dirty="0"/>
              <a:t>Smart Energy Metering and Theft Detection System </a:t>
            </a:r>
          </a:p>
          <a:p>
            <a:pPr algn="ctr"/>
            <a:r>
              <a:rPr lang="en-IN" sz="2800" b="1" dirty="0"/>
              <a:t>Engineering Clinics Fall Semester 2025-26: </a:t>
            </a:r>
          </a:p>
          <a:p>
            <a:pPr algn="ctr"/>
            <a:r>
              <a:rPr lang="en-IN" sz="2800" b="1" dirty="0"/>
              <a:t>Review-3</a:t>
            </a:r>
          </a:p>
          <a:p>
            <a:pPr algn="ctr"/>
            <a:r>
              <a:rPr lang="en-IN" sz="2400" dirty="0"/>
              <a:t>• K. Dheeraj- 24BCA7891 </a:t>
            </a:r>
          </a:p>
          <a:p>
            <a:pPr algn="ctr"/>
            <a:r>
              <a:rPr lang="en-IN" sz="2400" dirty="0"/>
              <a:t>• M. Chanakya- 24BCA7839 </a:t>
            </a:r>
          </a:p>
          <a:p>
            <a:pPr algn="ctr"/>
            <a:r>
              <a:rPr lang="en-IN" sz="2400" dirty="0"/>
              <a:t>• S. Bhavya Sri- 24BCE8375 </a:t>
            </a:r>
          </a:p>
          <a:p>
            <a:pPr algn="ctr"/>
            <a:r>
              <a:rPr lang="en-IN" sz="2400" dirty="0"/>
              <a:t>• A. Dhana Lakshmi- 24BCE8519 </a:t>
            </a:r>
          </a:p>
          <a:p>
            <a:pPr algn="ctr"/>
            <a:r>
              <a:rPr lang="en-IN" sz="2400" dirty="0"/>
              <a:t>• P. </a:t>
            </a:r>
            <a:r>
              <a:rPr lang="en-IN" sz="2400" dirty="0" err="1"/>
              <a:t>Pushna</a:t>
            </a:r>
            <a:r>
              <a:rPr lang="en-IN" sz="2400" dirty="0"/>
              <a:t> </a:t>
            </a:r>
            <a:r>
              <a:rPr lang="en-IN" sz="2400" dirty="0" err="1"/>
              <a:t>Hiranmai</a:t>
            </a:r>
            <a:r>
              <a:rPr lang="en-IN" sz="2400" dirty="0"/>
              <a:t>- 24BCA8149 </a:t>
            </a:r>
          </a:p>
          <a:p>
            <a:pPr algn="ctr"/>
            <a:r>
              <a:rPr lang="en-IN" sz="2400" dirty="0"/>
              <a:t>• K. Sri Lakshmi- 24BCS7106</a:t>
            </a:r>
          </a:p>
        </p:txBody>
      </p:sp>
    </p:spTree>
    <p:extLst>
      <p:ext uri="{BB962C8B-B14F-4D97-AF65-F5344CB8AC3E}">
        <p14:creationId xmlns:p14="http://schemas.microsoft.com/office/powerpoint/2010/main" val="5895184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A40FFF6-6925-6BF9-0D27-8E7561A15A1A}"/>
              </a:ext>
            </a:extLst>
          </p:cNvPr>
          <p:cNvSpPr txBox="1"/>
          <p:nvPr/>
        </p:nvSpPr>
        <p:spPr>
          <a:xfrm>
            <a:off x="405415" y="390629"/>
            <a:ext cx="36631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dirty="0"/>
              <a:t>Progress After Review-2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65688C-E0E6-BDC7-F6EB-6AD757BF320C}"/>
              </a:ext>
            </a:extLst>
          </p:cNvPr>
          <p:cNvSpPr txBox="1"/>
          <p:nvPr/>
        </p:nvSpPr>
        <p:spPr>
          <a:xfrm>
            <a:off x="363793" y="688798"/>
            <a:ext cx="802969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• Focused on completing software coding for ESP32.</a:t>
            </a:r>
          </a:p>
          <a:p>
            <a:r>
              <a:rPr lang="en-US" dirty="0"/>
              <a:t>• Gathered working code from Electro Gadget, YouTube, ResearchGate, GitHub, etc.</a:t>
            </a:r>
          </a:p>
          <a:p>
            <a:r>
              <a:rPr lang="en-US" dirty="0"/>
              <a:t>• Integrated, modified, and tested the final code.</a:t>
            </a:r>
          </a:p>
          <a:p>
            <a:r>
              <a:rPr lang="en-US" dirty="0"/>
              <a:t>• Verified Hall Effect sensor functionality for theft detection.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106BAF-A228-C309-F1AD-F1F0FCFEA51F}"/>
              </a:ext>
            </a:extLst>
          </p:cNvPr>
          <p:cNvSpPr txBox="1"/>
          <p:nvPr/>
        </p:nvSpPr>
        <p:spPr>
          <a:xfrm>
            <a:off x="363793" y="2556408"/>
            <a:ext cx="445654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Software Implementation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7C0D25-9310-70E6-DEDE-4F3102542343}"/>
              </a:ext>
            </a:extLst>
          </p:cNvPr>
          <p:cNvSpPr txBox="1"/>
          <p:nvPr/>
        </p:nvSpPr>
        <p:spPr>
          <a:xfrm>
            <a:off x="405415" y="3254467"/>
            <a:ext cx="416415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• IDE: Arduino IDE</a:t>
            </a:r>
          </a:p>
          <a:p>
            <a:r>
              <a:rPr lang="en-US" dirty="0"/>
              <a:t>• Board: ESP32 Dev Module</a:t>
            </a:r>
          </a:p>
          <a:p>
            <a:r>
              <a:rPr lang="en-US" dirty="0"/>
              <a:t>• Core Features:</a:t>
            </a:r>
          </a:p>
          <a:p>
            <a:r>
              <a:rPr lang="en-US" dirty="0"/>
              <a:t>  - Reads voltage and current using sensors</a:t>
            </a:r>
          </a:p>
          <a:p>
            <a:r>
              <a:rPr lang="en-US" dirty="0"/>
              <a:t>  - Detects tampering via Hall sensor</a:t>
            </a:r>
          </a:p>
          <a:p>
            <a:r>
              <a:rPr lang="en-US" dirty="0"/>
              <a:t>  - Controls relay for power cutoff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FA8ED17-E6E5-C1EE-40E1-BAD225ED59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128" t="19752" r="5699" b="11021"/>
          <a:stretch>
            <a:fillRect/>
          </a:stretch>
        </p:blipFill>
        <p:spPr>
          <a:xfrm>
            <a:off x="5265103" y="2368490"/>
            <a:ext cx="4456541" cy="3800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73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0E9EFA-D91C-A8C7-9398-045D07B57CE1}"/>
              </a:ext>
            </a:extLst>
          </p:cNvPr>
          <p:cNvSpPr txBox="1"/>
          <p:nvPr/>
        </p:nvSpPr>
        <p:spPr>
          <a:xfrm>
            <a:off x="6312310" y="433137"/>
            <a:ext cx="33551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Testing and Results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E4778A-71CD-11B0-5600-1CD06D54A4D8}"/>
              </a:ext>
            </a:extLst>
          </p:cNvPr>
          <p:cNvSpPr txBox="1"/>
          <p:nvPr/>
        </p:nvSpPr>
        <p:spPr>
          <a:xfrm>
            <a:off x="5781370" y="1101213"/>
            <a:ext cx="501445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Tested theft detection using Hall Effect sensor.</a:t>
            </a:r>
          </a:p>
          <a:p>
            <a:r>
              <a:rPr lang="en-US" dirty="0"/>
              <a:t>• Relay successfully turned off during theft simulation.</a:t>
            </a:r>
          </a:p>
          <a:p>
            <a:r>
              <a:rPr lang="en-US" dirty="0"/>
              <a:t>• LCD displayed real-time readings (Voltage, Current, Power).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7124207-049C-2865-55B4-BAF25C441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803136" y="1086977"/>
            <a:ext cx="4143929" cy="543890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FBF31E9-18C4-30EF-142E-9E111179C32D}"/>
              </a:ext>
            </a:extLst>
          </p:cNvPr>
          <p:cNvSpPr txBox="1"/>
          <p:nvPr/>
        </p:nvSpPr>
        <p:spPr>
          <a:xfrm>
            <a:off x="6528620" y="3053312"/>
            <a:ext cx="26893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Demonstration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3D033E-8FAD-85FC-70F7-73B582183EE2}"/>
              </a:ext>
            </a:extLst>
          </p:cNvPr>
          <p:cNvSpPr txBox="1"/>
          <p:nvPr/>
        </p:nvSpPr>
        <p:spPr>
          <a:xfrm>
            <a:off x="5702710" y="3804688"/>
            <a:ext cx="52012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• Power supplied → Sensors capture data → ESP32 processes → LCD displays output.</a:t>
            </a:r>
          </a:p>
          <a:p>
            <a:r>
              <a:rPr lang="en-US" dirty="0"/>
              <a:t>• Theft simulated by applying magnetic field near Hall sensor.</a:t>
            </a:r>
          </a:p>
          <a:p>
            <a:r>
              <a:rPr lang="en-US" dirty="0"/>
              <a:t>• Relay cuts power supply instantly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8603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7091622-3CA6-6085-A0C1-BAB1544DEC27}"/>
              </a:ext>
            </a:extLst>
          </p:cNvPr>
          <p:cNvSpPr txBox="1"/>
          <p:nvPr/>
        </p:nvSpPr>
        <p:spPr>
          <a:xfrm>
            <a:off x="639097" y="491613"/>
            <a:ext cx="520033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Blynk and Website Integration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75DB4-66A5-D55A-FD85-DF2B5526C827}"/>
              </a:ext>
            </a:extLst>
          </p:cNvPr>
          <p:cNvSpPr txBox="1"/>
          <p:nvPr/>
        </p:nvSpPr>
        <p:spPr>
          <a:xfrm>
            <a:off x="639097" y="1160206"/>
            <a:ext cx="534874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The ESP32 Smart Meter measures voltage, current, power, and energy in real time.</a:t>
            </a:r>
          </a:p>
          <a:p>
            <a:r>
              <a:rPr lang="en-US" dirty="0"/>
              <a:t>• These readings are sent to the Blynk Cloud through Wi-Fi using the Blynk API.</a:t>
            </a:r>
          </a:p>
          <a:p>
            <a:r>
              <a:rPr lang="en-US" dirty="0"/>
              <a:t>• Blynk acts as a bridge, storing and managing sensor data securely online.</a:t>
            </a:r>
          </a:p>
          <a:p>
            <a:r>
              <a:rPr lang="en-US" dirty="0"/>
              <a:t>• Our custom website (https://smart-energy-portal.onrender.com) fetches live readings from Blynk using its HTTP API.</a:t>
            </a: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3CD519-662B-0629-C134-90174A1DA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284" y="0"/>
            <a:ext cx="573071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344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72157EE-37CC-F402-7FF4-3DFA6601A7BB}"/>
              </a:ext>
            </a:extLst>
          </p:cNvPr>
          <p:cNvSpPr txBox="1"/>
          <p:nvPr/>
        </p:nvSpPr>
        <p:spPr>
          <a:xfrm>
            <a:off x="206477" y="430160"/>
            <a:ext cx="527900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Final Output and Observations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820A96-7F15-E0B2-A4EF-40AE66B0AC88}"/>
              </a:ext>
            </a:extLst>
          </p:cNvPr>
          <p:cNvSpPr txBox="1"/>
          <p:nvPr/>
        </p:nvSpPr>
        <p:spPr>
          <a:xfrm>
            <a:off x="233631" y="859503"/>
            <a:ext cx="5224700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• Voltage: ~230V | Current: ~0.05A | Power: ~10W</a:t>
            </a:r>
          </a:p>
          <a:p>
            <a:r>
              <a:rPr lang="en-US" dirty="0"/>
              <a:t>• Theft detection response time: Instantaneous.</a:t>
            </a:r>
          </a:p>
          <a:p>
            <a:r>
              <a:rPr lang="en-US" dirty="0"/>
              <a:t>• System accuracy verified through repeated testing.</a:t>
            </a:r>
          </a:p>
          <a:p>
            <a:r>
              <a:rPr lang="en-US" dirty="0"/>
              <a:t>• Stable readings observed on LCD and serial monitor.</a:t>
            </a:r>
          </a:p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9B7118-2864-E0A4-9063-0EF5AAC129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715" y="2458397"/>
            <a:ext cx="9389808" cy="421807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43794FA-F49D-84BD-9464-4B06C9E04260}"/>
              </a:ext>
            </a:extLst>
          </p:cNvPr>
          <p:cNvSpPr txBox="1"/>
          <p:nvPr/>
        </p:nvSpPr>
        <p:spPr>
          <a:xfrm>
            <a:off x="6813756" y="425597"/>
            <a:ext cx="37521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Hardware Integration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227AF03-958D-30FB-E053-970468BDF8B0}"/>
              </a:ext>
            </a:extLst>
          </p:cNvPr>
          <p:cNvSpPr txBox="1"/>
          <p:nvPr/>
        </p:nvSpPr>
        <p:spPr>
          <a:xfrm>
            <a:off x="6449961" y="873432"/>
            <a:ext cx="477098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• All components fixed neatly on a wooden pad.</a:t>
            </a:r>
          </a:p>
          <a:p>
            <a:r>
              <a:rPr lang="en-US" dirty="0"/>
              <a:t>• ESP32, sensors, relay, and LCD arranged clearly.</a:t>
            </a:r>
          </a:p>
          <a:p>
            <a:r>
              <a:rPr lang="en-US" dirty="0"/>
              <a:t>• Wires managed for a clean final look.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573056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F1ADA8-6C3E-694D-5051-879A0647E9C9}"/>
              </a:ext>
            </a:extLst>
          </p:cNvPr>
          <p:cNvSpPr txBox="1"/>
          <p:nvPr/>
        </p:nvSpPr>
        <p:spPr>
          <a:xfrm>
            <a:off x="894735" y="934065"/>
            <a:ext cx="200888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Conclusion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DE1CCB-4201-6312-AE97-8830FB11B622}"/>
              </a:ext>
            </a:extLst>
          </p:cNvPr>
          <p:cNvSpPr txBox="1"/>
          <p:nvPr/>
        </p:nvSpPr>
        <p:spPr>
          <a:xfrm>
            <a:off x="560438" y="1518840"/>
            <a:ext cx="665143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  <a:p>
            <a:r>
              <a:rPr lang="en-US" dirty="0"/>
              <a:t>• Successfully built and demonstrated a working smart energy meter.</a:t>
            </a:r>
          </a:p>
          <a:p>
            <a:r>
              <a:rPr lang="en-US" dirty="0"/>
              <a:t>• Achieved accurate measurement and theft detection.</a:t>
            </a:r>
          </a:p>
          <a:p>
            <a:r>
              <a:rPr lang="en-US" dirty="0"/>
              <a:t>• Gained practical experience in IoT, sensors, and microcontrollers.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24EB57-00E7-3EE0-6209-65868081DC23}"/>
              </a:ext>
            </a:extLst>
          </p:cNvPr>
          <p:cNvSpPr txBox="1"/>
          <p:nvPr/>
        </p:nvSpPr>
        <p:spPr>
          <a:xfrm>
            <a:off x="5081235" y="5607211"/>
            <a:ext cx="202953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155430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{506C9943-2F84-498A-81DF-7FE0D83D77B9}tf03457452</Template>
  <TotalTime>156</TotalTime>
  <Words>391</Words>
  <Application>Microsoft Office PowerPoint</Application>
  <PresentationFormat>Widescreen</PresentationFormat>
  <Paragraphs>52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Celestial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Bhavya Sri Samineni</dc:creator>
  <cp:lastModifiedBy>Bhavya Sri Samineni</cp:lastModifiedBy>
  <cp:revision>1</cp:revision>
  <dcterms:created xsi:type="dcterms:W3CDTF">2025-10-25T06:14:58Z</dcterms:created>
  <dcterms:modified xsi:type="dcterms:W3CDTF">2025-10-25T09:28:34Z</dcterms:modified>
</cp:coreProperties>
</file>